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  <p:sldMasterId id="2147483689" r:id="rId2"/>
    <p:sldMasterId id="2147483690" r:id="rId3"/>
  </p:sldMasterIdLst>
  <p:notesMasterIdLst>
    <p:notesMasterId r:id="rId10"/>
  </p:notesMasterIdLst>
  <p:sldIdLst>
    <p:sldId id="256" r:id="rId4"/>
    <p:sldId id="258" r:id="rId5"/>
    <p:sldId id="279" r:id="rId6"/>
    <p:sldId id="281" r:id="rId7"/>
    <p:sldId id="282" r:id="rId8"/>
    <p:sldId id="273" r:id="rId9"/>
  </p:sldIdLst>
  <p:sldSz cx="9144000" cy="5143500" type="screen16x9"/>
  <p:notesSz cx="6858000" cy="9144000"/>
  <p:embeddedFontLst>
    <p:embeddedFont>
      <p:font typeface="Merriweather Sans" pitchFamily="2" charset="0"/>
      <p:regular r:id="rId11"/>
      <p:bold r:id="rId12"/>
      <p:italic r:id="rId13"/>
      <p:boldItalic r:id="rId14"/>
    </p:embeddedFont>
    <p:embeddedFont>
      <p:font typeface="Tahoma" panose="020B0604030504040204" pitchFamily="34" charset="0"/>
      <p:regular r:id="rId15"/>
      <p:bold r:id="rId16"/>
    </p:embeddedFont>
    <p:embeddedFont>
      <p:font typeface="Verdana" panose="020B0604030504040204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69BACC-03EE-8E51-B8EE-88F720E439FE}" v="345" dt="2026-06-10T04:19:11.682"/>
  </p1510:revLst>
</p1510:revInfo>
</file>

<file path=ppt/tableStyles.xml><?xml version="1.0" encoding="utf-8"?>
<a:tblStyleLst xmlns:a="http://schemas.openxmlformats.org/drawingml/2006/main" def="{4C33536B-BD36-4161-A2F3-415FDFE9F7F5}">
  <a:tblStyle styleId="{4C33536B-BD36-4161-A2F3-415FDFE9F7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8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d01995daf_2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30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g3ed01995daf_2_93:notes"/>
          <p:cNvSpPr txBox="1">
            <a:spLocks noGrp="1"/>
          </p:cNvSpPr>
          <p:nvPr>
            <p:ph type="body" idx="1"/>
          </p:nvPr>
        </p:nvSpPr>
        <p:spPr>
          <a:xfrm>
            <a:off x="685337" y="4343945"/>
            <a:ext cx="5487418" cy="4114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Welcome everyone, and thank you for joining the Chipathon 2026 kickoff.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My name is Mehdi Saligane, and I’m serving as Chair of the IEEE Solid-State Circuits Society Technical Committee on the Open Source Ecosystem, or TC-OSE.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Today is really about setting the tone for this year’s Chipathon: what we are trying to build as a community, what we learned from previous years, what is new in 2026, and what we expect from participants and teams.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The main message for this year is simple: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Build, Test, Publish.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We want to move beyond designs that only live in simulation, or cannot be reproduced and work toward open-source silicon that is built, measured, documented, and shared with the community.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1" name="Google Shape;201;g3ed01995daf_2_93:notes"/>
          <p:cNvSpPr txBox="1">
            <a:spLocks noGrp="1"/>
          </p:cNvSpPr>
          <p:nvPr>
            <p:ph type="sldNum" idx="12"/>
          </p:nvPr>
        </p:nvSpPr>
        <p:spPr>
          <a:xfrm>
            <a:off x="3885120" y="8684783"/>
            <a:ext cx="2971328" cy="457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d01995daf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ed01995daf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eeaa7e34f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eeaa7e34f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>
          <a:extLst>
            <a:ext uri="{FF2B5EF4-FFF2-40B4-BE49-F238E27FC236}">
              <a16:creationId xmlns:a16="http://schemas.microsoft.com/office/drawing/2014/main" id="{346A10CF-B51C-3278-C755-60A60E7CB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eeaa7e34f9_0_0:notes">
            <a:extLst>
              <a:ext uri="{FF2B5EF4-FFF2-40B4-BE49-F238E27FC236}">
                <a16:creationId xmlns:a16="http://schemas.microsoft.com/office/drawing/2014/main" id="{28610E31-3655-301C-B951-8D2AE43B9A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eeaa7e34f9_0_0:notes">
            <a:extLst>
              <a:ext uri="{FF2B5EF4-FFF2-40B4-BE49-F238E27FC236}">
                <a16:creationId xmlns:a16="http://schemas.microsoft.com/office/drawing/2014/main" id="{12BD8D26-C039-8186-18D8-EBB8A28B75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32260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>
          <a:extLst>
            <a:ext uri="{FF2B5EF4-FFF2-40B4-BE49-F238E27FC236}">
              <a16:creationId xmlns:a16="http://schemas.microsoft.com/office/drawing/2014/main" id="{6B7FAD8A-4294-5E5A-3953-035A681C1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eeaa7e34f9_0_0:notes">
            <a:extLst>
              <a:ext uri="{FF2B5EF4-FFF2-40B4-BE49-F238E27FC236}">
                <a16:creationId xmlns:a16="http://schemas.microsoft.com/office/drawing/2014/main" id="{3B83A9D5-7B68-243B-D3CF-D2EFB976BC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eeaa7e34f9_0_0:notes">
            <a:extLst>
              <a:ext uri="{FF2B5EF4-FFF2-40B4-BE49-F238E27FC236}">
                <a16:creationId xmlns:a16="http://schemas.microsoft.com/office/drawing/2014/main" id="{F53A2441-15DD-62FF-6B13-FE61766467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790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DEAB5CE-FDD9-F0F8-9F63-4388D5317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d01995daf_0_37:notes">
            <a:extLst>
              <a:ext uri="{FF2B5EF4-FFF2-40B4-BE49-F238E27FC236}">
                <a16:creationId xmlns:a16="http://schemas.microsoft.com/office/drawing/2014/main" id="{ADDBD1AB-A4C1-AAF2-DBED-89464ADEEC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ed01995daf_0_37:notes">
            <a:extLst>
              <a:ext uri="{FF2B5EF4-FFF2-40B4-BE49-F238E27FC236}">
                <a16:creationId xmlns:a16="http://schemas.microsoft.com/office/drawing/2014/main" id="{1FAF1CBB-3C62-AD47-1215-219E6A3591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2775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gif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 descr="IEEE_TAG_BLU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0" y="4514850"/>
            <a:ext cx="1143000" cy="481013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>
            <a:spLocks noGrp="1"/>
          </p:cNvSpPr>
          <p:nvPr>
            <p:ph type="ctrTitle"/>
          </p:nvPr>
        </p:nvSpPr>
        <p:spPr>
          <a:xfrm>
            <a:off x="1295400" y="616744"/>
            <a:ext cx="71628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1271589" y="2971800"/>
            <a:ext cx="3919537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300"/>
              <a:buFont typeface="Noto Sans Symbols"/>
              <a:buNone/>
              <a:defRPr sz="17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5pPr>
            <a:lvl6pPr lvl="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6pPr>
            <a:lvl7pPr lvl="6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7pPr>
            <a:lvl8pPr lvl="7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8pPr>
            <a:lvl9pPr lvl="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9pPr>
          </a:lstStyle>
          <a:p>
            <a:endParaRPr/>
          </a:p>
        </p:txBody>
      </p:sp>
      <p:pic>
        <p:nvPicPr>
          <p:cNvPr id="60" name="Google Shape;60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097" y="4400263"/>
            <a:ext cx="818591" cy="592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_OneColumnBullets">
  <p:cSld name="Content Slide_OneColumnBullet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ctrTitle"/>
          </p:nvPr>
        </p:nvSpPr>
        <p:spPr>
          <a:xfrm>
            <a:off x="297612" y="424067"/>
            <a:ext cx="8531162" cy="391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0066A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Verdana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Verdana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Verdana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Verdana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None/>
              <a:defRPr sz="1100"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body" idx="1"/>
          </p:nvPr>
        </p:nvSpPr>
        <p:spPr>
          <a:xfrm>
            <a:off x="297612" y="978763"/>
            <a:ext cx="8531162" cy="3498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457200" marR="0" lvl="0" indent="-2730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66A1"/>
              </a:buClr>
              <a:buSzPts val="700"/>
              <a:buFont typeface="Merriweather Sans"/>
              <a:buChar char="▶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66A1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857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66A1"/>
              </a:buClr>
              <a:buSzPts val="900"/>
              <a:buFont typeface="Noto Sans Symbols"/>
              <a:buChar char="▪"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79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66A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79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66A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4" name="Google Shape;64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097" y="4400263"/>
            <a:ext cx="818591" cy="592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365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Font typeface="Verdana"/>
              <a:buChar char="•"/>
              <a:defRPr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Verdana"/>
              <a:buChar char="–"/>
              <a:defRPr/>
            </a:lvl2pPr>
            <a:lvl3pPr marL="1371600" lvl="2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700"/>
              <a:buChar char="▪"/>
              <a:defRPr/>
            </a:lvl3pPr>
            <a:lvl4pPr marL="1828800" lvl="3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Verdana"/>
              <a:buChar char="–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400"/>
              <a:buChar char="▪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dt" idx="10"/>
          </p:nvPr>
        </p:nvSpPr>
        <p:spPr>
          <a:xfrm>
            <a:off x="1219200" y="4629151"/>
            <a:ext cx="3124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sldNum" idx="12"/>
          </p:nvPr>
        </p:nvSpPr>
        <p:spPr>
          <a:xfrm>
            <a:off x="533400" y="4629151"/>
            <a:ext cx="6858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body" idx="1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dt" idx="10"/>
          </p:nvPr>
        </p:nvSpPr>
        <p:spPr>
          <a:xfrm>
            <a:off x="1219200" y="4629151"/>
            <a:ext cx="3124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sldNum" idx="12"/>
          </p:nvPr>
        </p:nvSpPr>
        <p:spPr>
          <a:xfrm>
            <a:off x="533400" y="4629151"/>
            <a:ext cx="6858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3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Font typeface="Verdana"/>
              <a:buNone/>
              <a:defRPr sz="1500"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Verdana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Font typeface="Verdana"/>
              <a:buNone/>
              <a:defRPr sz="11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100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100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100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100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dt" idx="10"/>
          </p:nvPr>
        </p:nvSpPr>
        <p:spPr>
          <a:xfrm>
            <a:off x="1219200" y="4629151"/>
            <a:ext cx="3124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533400" y="4629151"/>
            <a:ext cx="6858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1"/>
          </p:nvPr>
        </p:nvSpPr>
        <p:spPr>
          <a:xfrm>
            <a:off x="685800" y="148590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365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Font typeface="Verdana"/>
              <a:buChar char="•"/>
              <a:defRPr sz="2100"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Verdana"/>
              <a:buChar char="–"/>
              <a:defRPr sz="1800"/>
            </a:lvl2pPr>
            <a:lvl3pPr marL="1371600" lvl="2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▪"/>
              <a:defRPr sz="1500"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Verdana"/>
              <a:buChar char="–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 sz="1400"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body" idx="2"/>
          </p:nvPr>
        </p:nvSpPr>
        <p:spPr>
          <a:xfrm>
            <a:off x="4648200" y="148590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365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Font typeface="Verdana"/>
              <a:buChar char="•"/>
              <a:defRPr sz="2100"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Verdana"/>
              <a:buChar char="–"/>
              <a:defRPr sz="1800"/>
            </a:lvl2pPr>
            <a:lvl3pPr marL="1371600" lvl="2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▪"/>
              <a:defRPr sz="1500"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Verdana"/>
              <a:buChar char="–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 sz="1400"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dt" idx="10"/>
          </p:nvPr>
        </p:nvSpPr>
        <p:spPr>
          <a:xfrm>
            <a:off x="1219200" y="4629151"/>
            <a:ext cx="3124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sldNum" idx="12"/>
          </p:nvPr>
        </p:nvSpPr>
        <p:spPr>
          <a:xfrm>
            <a:off x="533400" y="4629151"/>
            <a:ext cx="6858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0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Verdana"/>
              <a:buNone/>
              <a:defRPr sz="1800" b="1"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Verdana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Verdana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Verdana"/>
              <a:buChar char="•"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Verdana"/>
              <a:buChar char="–"/>
              <a:defRPr sz="1500"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Verdana"/>
              <a:buChar char="–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▪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▪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▪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▪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▪"/>
              <a:defRPr sz="1200"/>
            </a:lvl9pPr>
          </a:lstStyle>
          <a:p>
            <a:endParaRPr/>
          </a:p>
        </p:txBody>
      </p:sp>
      <p:sp>
        <p:nvSpPr>
          <p:cNvPr id="90" name="Google Shape;90;p20"/>
          <p:cNvSpPr txBox="1">
            <a:spLocks noGrp="1"/>
          </p:cNvSpPr>
          <p:nvPr>
            <p:ph type="body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Verdana"/>
              <a:buNone/>
              <a:defRPr sz="1800" b="1"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Verdana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Verdana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body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Verdana"/>
              <a:buChar char="•"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Verdana"/>
              <a:buChar char="–"/>
              <a:defRPr sz="1500"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Verdana"/>
              <a:buChar char="–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▪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▪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▪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▪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▪"/>
              <a:defRPr sz="1200"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dt" idx="10"/>
          </p:nvPr>
        </p:nvSpPr>
        <p:spPr>
          <a:xfrm>
            <a:off x="1219200" y="4629151"/>
            <a:ext cx="3124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sldNum" idx="12"/>
          </p:nvPr>
        </p:nvSpPr>
        <p:spPr>
          <a:xfrm>
            <a:off x="533400" y="4629151"/>
            <a:ext cx="6858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1"/>
          <p:cNvSpPr txBox="1">
            <a:spLocks noGrp="1"/>
          </p:cNvSpPr>
          <p:nvPr>
            <p:ph type="dt" idx="10"/>
          </p:nvPr>
        </p:nvSpPr>
        <p:spPr>
          <a:xfrm>
            <a:off x="1219200" y="4629151"/>
            <a:ext cx="3124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sldNum" idx="12"/>
          </p:nvPr>
        </p:nvSpPr>
        <p:spPr>
          <a:xfrm>
            <a:off x="533400" y="4629151"/>
            <a:ext cx="6858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>
            <a:spLocks noGrp="1"/>
          </p:cNvSpPr>
          <p:nvPr>
            <p:ph type="dt" idx="10"/>
          </p:nvPr>
        </p:nvSpPr>
        <p:spPr>
          <a:xfrm>
            <a:off x="1219200" y="4629151"/>
            <a:ext cx="3124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2"/>
          <p:cNvSpPr txBox="1">
            <a:spLocks noGrp="1"/>
          </p:cNvSpPr>
          <p:nvPr>
            <p:ph type="sldNum" idx="12"/>
          </p:nvPr>
        </p:nvSpPr>
        <p:spPr>
          <a:xfrm>
            <a:off x="533400" y="4629151"/>
            <a:ext cx="6858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3"/>
          <p:cNvSpPr txBox="1">
            <a:spLocks noGrp="1"/>
          </p:cNvSpPr>
          <p:nvPr>
            <p:ph type="title"/>
          </p:nvPr>
        </p:nvSpPr>
        <p:spPr>
          <a:xfrm>
            <a:off x="457201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3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492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00"/>
              <a:buFont typeface="Verdana"/>
              <a:buChar char="•"/>
              <a:defRPr sz="2400"/>
            </a:lvl1pPr>
            <a:lvl2pPr marL="914400" lvl="1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Font typeface="Verdana"/>
              <a:buChar char="–"/>
              <a:defRPr sz="2100"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 sz="1800"/>
            </a:lvl3pPr>
            <a:lvl4pPr marL="1828800" lvl="3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Verdana"/>
              <a:buChar char="–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▪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▪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▪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▪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▪"/>
              <a:defRPr sz="1500"/>
            </a:lvl9pPr>
          </a:lstStyle>
          <a:p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body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Font typeface="Verdana"/>
              <a:buNone/>
              <a:defRPr sz="110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Verdana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Font typeface="Verdana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05" name="Google Shape;105;p23"/>
          <p:cNvSpPr txBox="1">
            <a:spLocks noGrp="1"/>
          </p:cNvSpPr>
          <p:nvPr>
            <p:ph type="dt" idx="10"/>
          </p:nvPr>
        </p:nvSpPr>
        <p:spPr>
          <a:xfrm>
            <a:off x="1219200" y="4629151"/>
            <a:ext cx="3124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3"/>
          <p:cNvSpPr txBox="1">
            <a:spLocks noGrp="1"/>
          </p:cNvSpPr>
          <p:nvPr>
            <p:ph type="sldNum" idx="12"/>
          </p:nvPr>
        </p:nvSpPr>
        <p:spPr>
          <a:xfrm>
            <a:off x="533400" y="4629151"/>
            <a:ext cx="6858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4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4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Font typeface="Verdana"/>
              <a:buNone/>
              <a:defRPr sz="110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Verdana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Font typeface="Verdana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dt" idx="10"/>
          </p:nvPr>
        </p:nvSpPr>
        <p:spPr>
          <a:xfrm>
            <a:off x="1219200" y="4629151"/>
            <a:ext cx="3124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4"/>
          <p:cNvSpPr txBox="1">
            <a:spLocks noGrp="1"/>
          </p:cNvSpPr>
          <p:nvPr>
            <p:ph type="sldNum" idx="12"/>
          </p:nvPr>
        </p:nvSpPr>
        <p:spPr>
          <a:xfrm>
            <a:off x="533400" y="4629151"/>
            <a:ext cx="6858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5"/>
          <p:cNvSpPr txBox="1">
            <a:spLocks noGrp="1"/>
          </p:cNvSpPr>
          <p:nvPr>
            <p:ph type="body" idx="1"/>
          </p:nvPr>
        </p:nvSpPr>
        <p:spPr>
          <a:xfrm rot="5400000">
            <a:off x="3028950" y="-857250"/>
            <a:ext cx="30861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dt" idx="10"/>
          </p:nvPr>
        </p:nvSpPr>
        <p:spPr>
          <a:xfrm>
            <a:off x="1219200" y="4629151"/>
            <a:ext cx="3124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sldNum" idx="12"/>
          </p:nvPr>
        </p:nvSpPr>
        <p:spPr>
          <a:xfrm>
            <a:off x="533400" y="4629151"/>
            <a:ext cx="6858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>
            <a:spLocks noGrp="1"/>
          </p:cNvSpPr>
          <p:nvPr>
            <p:ph type="title"/>
          </p:nvPr>
        </p:nvSpPr>
        <p:spPr>
          <a:xfrm rot="5400000">
            <a:off x="5429250" y="1543050"/>
            <a:ext cx="41148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6"/>
          <p:cNvSpPr txBox="1">
            <a:spLocks noGrp="1"/>
          </p:cNvSpPr>
          <p:nvPr>
            <p:ph type="body" idx="1"/>
          </p:nvPr>
        </p:nvSpPr>
        <p:spPr>
          <a:xfrm rot="5400000">
            <a:off x="1466850" y="-323850"/>
            <a:ext cx="41148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9pPr>
          </a:lstStyle>
          <a:p>
            <a:endParaRPr/>
          </a:p>
        </p:txBody>
      </p:sp>
      <p:sp>
        <p:nvSpPr>
          <p:cNvPr id="121" name="Google Shape;121;p26"/>
          <p:cNvSpPr txBox="1">
            <a:spLocks noGrp="1"/>
          </p:cNvSpPr>
          <p:nvPr>
            <p:ph type="dt" idx="10"/>
          </p:nvPr>
        </p:nvSpPr>
        <p:spPr>
          <a:xfrm>
            <a:off x="1219200" y="4629151"/>
            <a:ext cx="3124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6"/>
          <p:cNvSpPr txBox="1">
            <a:spLocks noGrp="1"/>
          </p:cNvSpPr>
          <p:nvPr>
            <p:ph type="sldNum" idx="12"/>
          </p:nvPr>
        </p:nvSpPr>
        <p:spPr>
          <a:xfrm>
            <a:off x="533400" y="4629151"/>
            <a:ext cx="6858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EXT_AND_TWO_OBJECTS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>
            <a:spLocks noGrp="1"/>
          </p:cNvSpPr>
          <p:nvPr>
            <p:ph type="title"/>
          </p:nvPr>
        </p:nvSpPr>
        <p:spPr>
          <a:xfrm>
            <a:off x="676275" y="457200"/>
            <a:ext cx="7848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7"/>
          <p:cNvSpPr txBox="1">
            <a:spLocks noGrp="1"/>
          </p:cNvSpPr>
          <p:nvPr>
            <p:ph type="body" idx="1"/>
          </p:nvPr>
        </p:nvSpPr>
        <p:spPr>
          <a:xfrm>
            <a:off x="676275" y="1500188"/>
            <a:ext cx="38481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9pPr>
          </a:lstStyle>
          <a:p>
            <a:endParaRPr/>
          </a:p>
        </p:txBody>
      </p:sp>
      <p:sp>
        <p:nvSpPr>
          <p:cNvPr id="126" name="Google Shape;126;p27"/>
          <p:cNvSpPr txBox="1">
            <a:spLocks noGrp="1"/>
          </p:cNvSpPr>
          <p:nvPr>
            <p:ph type="body" idx="2"/>
          </p:nvPr>
        </p:nvSpPr>
        <p:spPr>
          <a:xfrm>
            <a:off x="4676775" y="1500188"/>
            <a:ext cx="38481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9pPr>
          </a:lstStyle>
          <a:p>
            <a:endParaRPr/>
          </a:p>
        </p:txBody>
      </p:sp>
      <p:sp>
        <p:nvSpPr>
          <p:cNvPr id="127" name="Google Shape;127;p27"/>
          <p:cNvSpPr txBox="1">
            <a:spLocks noGrp="1"/>
          </p:cNvSpPr>
          <p:nvPr>
            <p:ph type="body" idx="3"/>
          </p:nvPr>
        </p:nvSpPr>
        <p:spPr>
          <a:xfrm>
            <a:off x="4676775" y="3100388"/>
            <a:ext cx="38481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4 Content" type="fourObj">
  <p:cSld name="FOUR_OBJECTS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>
            <a:spLocks noGrp="1"/>
          </p:cNvSpPr>
          <p:nvPr>
            <p:ph type="title"/>
          </p:nvPr>
        </p:nvSpPr>
        <p:spPr>
          <a:xfrm>
            <a:off x="666750" y="442913"/>
            <a:ext cx="7848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8"/>
          <p:cNvSpPr txBox="1">
            <a:spLocks noGrp="1"/>
          </p:cNvSpPr>
          <p:nvPr>
            <p:ph type="body" idx="1"/>
          </p:nvPr>
        </p:nvSpPr>
        <p:spPr>
          <a:xfrm>
            <a:off x="609600" y="1485900"/>
            <a:ext cx="38481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9pPr>
          </a:lstStyle>
          <a:p>
            <a:endParaRPr/>
          </a:p>
        </p:txBody>
      </p:sp>
      <p:sp>
        <p:nvSpPr>
          <p:cNvPr id="131" name="Google Shape;131;p28"/>
          <p:cNvSpPr txBox="1">
            <a:spLocks noGrp="1"/>
          </p:cNvSpPr>
          <p:nvPr>
            <p:ph type="body" idx="2"/>
          </p:nvPr>
        </p:nvSpPr>
        <p:spPr>
          <a:xfrm>
            <a:off x="4610100" y="1485900"/>
            <a:ext cx="38481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9pPr>
          </a:lstStyle>
          <a:p>
            <a:endParaRPr/>
          </a:p>
        </p:txBody>
      </p:sp>
      <p:sp>
        <p:nvSpPr>
          <p:cNvPr id="132" name="Google Shape;132;p28"/>
          <p:cNvSpPr txBox="1">
            <a:spLocks noGrp="1"/>
          </p:cNvSpPr>
          <p:nvPr>
            <p:ph type="body" idx="3"/>
          </p:nvPr>
        </p:nvSpPr>
        <p:spPr>
          <a:xfrm>
            <a:off x="609600" y="3086100"/>
            <a:ext cx="38481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9pPr>
          </a:lstStyle>
          <a:p>
            <a:endParaRPr/>
          </a:p>
        </p:txBody>
      </p:sp>
      <p:sp>
        <p:nvSpPr>
          <p:cNvPr id="133" name="Google Shape;133;p28"/>
          <p:cNvSpPr txBox="1">
            <a:spLocks noGrp="1"/>
          </p:cNvSpPr>
          <p:nvPr>
            <p:ph type="body" idx="4"/>
          </p:nvPr>
        </p:nvSpPr>
        <p:spPr>
          <a:xfrm>
            <a:off x="4610100" y="3086100"/>
            <a:ext cx="38481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, and 2 Content" type="objAndTwoObj">
  <p:cSld name="OBJECT_AND_TWO_OBJECTS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>
            <a:spLocks noGrp="1"/>
          </p:cNvSpPr>
          <p:nvPr>
            <p:ph type="title"/>
          </p:nvPr>
        </p:nvSpPr>
        <p:spPr>
          <a:xfrm>
            <a:off x="685800" y="442913"/>
            <a:ext cx="7848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9"/>
          <p:cNvSpPr txBox="1">
            <a:spLocks noGrp="1"/>
          </p:cNvSpPr>
          <p:nvPr>
            <p:ph type="body" idx="1"/>
          </p:nvPr>
        </p:nvSpPr>
        <p:spPr>
          <a:xfrm>
            <a:off x="695325" y="1485900"/>
            <a:ext cx="38481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9pPr>
          </a:lstStyle>
          <a:p>
            <a:endParaRPr/>
          </a:p>
        </p:txBody>
      </p:sp>
      <p:sp>
        <p:nvSpPr>
          <p:cNvPr id="137" name="Google Shape;137;p29"/>
          <p:cNvSpPr txBox="1">
            <a:spLocks noGrp="1"/>
          </p:cNvSpPr>
          <p:nvPr>
            <p:ph type="body" idx="2"/>
          </p:nvPr>
        </p:nvSpPr>
        <p:spPr>
          <a:xfrm>
            <a:off x="4695825" y="1485900"/>
            <a:ext cx="38481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9pPr>
          </a:lstStyle>
          <a:p>
            <a:endParaRPr/>
          </a:p>
        </p:txBody>
      </p:sp>
      <p:sp>
        <p:nvSpPr>
          <p:cNvPr id="138" name="Google Shape;138;p29"/>
          <p:cNvSpPr txBox="1">
            <a:spLocks noGrp="1"/>
          </p:cNvSpPr>
          <p:nvPr>
            <p:ph type="body" idx="3"/>
          </p:nvPr>
        </p:nvSpPr>
        <p:spPr>
          <a:xfrm>
            <a:off x="4695825" y="3086100"/>
            <a:ext cx="38481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and Text" type="objAndTx">
  <p:cSld name="OBJECT_AND_TEX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>
            <a:spLocks noGrp="1"/>
          </p:cNvSpPr>
          <p:nvPr>
            <p:ph type="title"/>
          </p:nvPr>
        </p:nvSpPr>
        <p:spPr>
          <a:xfrm>
            <a:off x="676275" y="457200"/>
            <a:ext cx="7848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30"/>
          <p:cNvSpPr txBox="1">
            <a:spLocks noGrp="1"/>
          </p:cNvSpPr>
          <p:nvPr>
            <p:ph type="body" idx="1"/>
          </p:nvPr>
        </p:nvSpPr>
        <p:spPr>
          <a:xfrm>
            <a:off x="609600" y="1485900"/>
            <a:ext cx="38481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9pPr>
          </a:lstStyle>
          <a:p>
            <a:endParaRPr/>
          </a:p>
        </p:txBody>
      </p:sp>
      <p:sp>
        <p:nvSpPr>
          <p:cNvPr id="142" name="Google Shape;142;p30"/>
          <p:cNvSpPr txBox="1">
            <a:spLocks noGrp="1"/>
          </p:cNvSpPr>
          <p:nvPr>
            <p:ph type="body" idx="2"/>
          </p:nvPr>
        </p:nvSpPr>
        <p:spPr>
          <a:xfrm>
            <a:off x="4610100" y="1485900"/>
            <a:ext cx="38481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">
  <p:cSld name="5_Title and Conten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3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221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" name="Google Shape;153;p33"/>
          <p:cNvSpPr txBox="1">
            <a:spLocks noGrp="1"/>
          </p:cNvSpPr>
          <p:nvPr>
            <p:ph type="sldNum" idx="12"/>
          </p:nvPr>
        </p:nvSpPr>
        <p:spPr>
          <a:xfrm>
            <a:off x="3008" y="4811713"/>
            <a:ext cx="846137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4" name="Google Shape;154;p33"/>
          <p:cNvSpPr txBox="1">
            <a:spLocks noGrp="1"/>
          </p:cNvSpPr>
          <p:nvPr>
            <p:ph type="body" idx="1"/>
          </p:nvPr>
        </p:nvSpPr>
        <p:spPr>
          <a:xfrm>
            <a:off x="695324" y="775331"/>
            <a:ext cx="7961313" cy="362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25" cy="57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" name="Google Shape;157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25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8" name="Google Shape;158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5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221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" name="Google Shape;161;p35"/>
          <p:cNvSpPr txBox="1">
            <a:spLocks noGrp="1"/>
          </p:cNvSpPr>
          <p:nvPr>
            <p:ph type="sldNum" idx="12"/>
          </p:nvPr>
        </p:nvSpPr>
        <p:spPr>
          <a:xfrm>
            <a:off x="3008" y="4811713"/>
            <a:ext cx="846137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35"/>
          <p:cNvSpPr txBox="1">
            <a:spLocks noGrp="1"/>
          </p:cNvSpPr>
          <p:nvPr>
            <p:ph type="body" idx="1"/>
          </p:nvPr>
        </p:nvSpPr>
        <p:spPr>
          <a:xfrm>
            <a:off x="695324" y="775331"/>
            <a:ext cx="7961313" cy="362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Ref">
  <p:cSld name="Title and Content with Ref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6"/>
          <p:cNvSpPr txBox="1">
            <a:spLocks noGrp="1"/>
          </p:cNvSpPr>
          <p:nvPr>
            <p:ph type="body" idx="1"/>
          </p:nvPr>
        </p:nvSpPr>
        <p:spPr>
          <a:xfrm>
            <a:off x="695416" y="4505492"/>
            <a:ext cx="616258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1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" name="Google Shape;165;p36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221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6" name="Google Shape;166;p36"/>
          <p:cNvSpPr txBox="1">
            <a:spLocks noGrp="1"/>
          </p:cNvSpPr>
          <p:nvPr>
            <p:ph type="sldNum" idx="12"/>
          </p:nvPr>
        </p:nvSpPr>
        <p:spPr>
          <a:xfrm>
            <a:off x="3008" y="4811713"/>
            <a:ext cx="846137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36"/>
          <p:cNvSpPr txBox="1">
            <a:spLocks noGrp="1"/>
          </p:cNvSpPr>
          <p:nvPr>
            <p:ph type="body" idx="2"/>
          </p:nvPr>
        </p:nvSpPr>
        <p:spPr>
          <a:xfrm>
            <a:off x="695324" y="775331"/>
            <a:ext cx="7961313" cy="362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7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221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0" name="Google Shape;170;p37"/>
          <p:cNvSpPr txBox="1">
            <a:spLocks noGrp="1"/>
          </p:cNvSpPr>
          <p:nvPr>
            <p:ph type="sldNum" idx="12"/>
          </p:nvPr>
        </p:nvSpPr>
        <p:spPr>
          <a:xfrm>
            <a:off x="3008" y="4811713"/>
            <a:ext cx="846137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" name="Google Shape;171;p37"/>
          <p:cNvSpPr txBox="1">
            <a:spLocks noGrp="1"/>
          </p:cNvSpPr>
          <p:nvPr>
            <p:ph type="body" idx="1"/>
          </p:nvPr>
        </p:nvSpPr>
        <p:spPr>
          <a:xfrm>
            <a:off x="695324" y="775331"/>
            <a:ext cx="7961313" cy="362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8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221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4" name="Google Shape;174;p38"/>
          <p:cNvSpPr txBox="1">
            <a:spLocks noGrp="1"/>
          </p:cNvSpPr>
          <p:nvPr>
            <p:ph type="sldNum" idx="12"/>
          </p:nvPr>
        </p:nvSpPr>
        <p:spPr>
          <a:xfrm>
            <a:off x="3008" y="4811713"/>
            <a:ext cx="846137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5" name="Google Shape;175;p38"/>
          <p:cNvSpPr txBox="1">
            <a:spLocks noGrp="1"/>
          </p:cNvSpPr>
          <p:nvPr>
            <p:ph type="body" idx="1"/>
          </p:nvPr>
        </p:nvSpPr>
        <p:spPr>
          <a:xfrm>
            <a:off x="695324" y="775331"/>
            <a:ext cx="7961313" cy="362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9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221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" name="Google Shape;178;p39"/>
          <p:cNvSpPr txBox="1">
            <a:spLocks noGrp="1"/>
          </p:cNvSpPr>
          <p:nvPr>
            <p:ph type="sldNum" idx="12"/>
          </p:nvPr>
        </p:nvSpPr>
        <p:spPr>
          <a:xfrm>
            <a:off x="3008" y="4811713"/>
            <a:ext cx="846137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9" name="Google Shape;179;p39"/>
          <p:cNvSpPr txBox="1">
            <a:spLocks noGrp="1"/>
          </p:cNvSpPr>
          <p:nvPr>
            <p:ph type="body" idx="1"/>
          </p:nvPr>
        </p:nvSpPr>
        <p:spPr>
          <a:xfrm>
            <a:off x="695324" y="775331"/>
            <a:ext cx="7961313" cy="362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0"/>
          <p:cNvSpPr txBox="1">
            <a:spLocks noGrp="1"/>
          </p:cNvSpPr>
          <p:nvPr>
            <p:ph type="title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2" name="Google Shape;182;p40"/>
          <p:cNvSpPr txBox="1"/>
          <p:nvPr/>
        </p:nvSpPr>
        <p:spPr>
          <a:xfrm>
            <a:off x="1371600" y="4800600"/>
            <a:ext cx="64008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Symposia on VLSI Technology and Circuits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0"/>
          <p:cNvSpPr txBox="1">
            <a:spLocks noGrp="1"/>
          </p:cNvSpPr>
          <p:nvPr>
            <p:ph type="sldNum" idx="12"/>
          </p:nvPr>
        </p:nvSpPr>
        <p:spPr>
          <a:xfrm>
            <a:off x="3008" y="4811713"/>
            <a:ext cx="846137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1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221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6" name="Google Shape;186;p41"/>
          <p:cNvSpPr txBox="1">
            <a:spLocks noGrp="1"/>
          </p:cNvSpPr>
          <p:nvPr>
            <p:ph type="sldNum" idx="12"/>
          </p:nvPr>
        </p:nvSpPr>
        <p:spPr>
          <a:xfrm>
            <a:off x="3008" y="4811713"/>
            <a:ext cx="846137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7" name="Google Shape;187;p41"/>
          <p:cNvSpPr txBox="1">
            <a:spLocks noGrp="1"/>
          </p:cNvSpPr>
          <p:nvPr>
            <p:ph type="body" idx="1"/>
          </p:nvPr>
        </p:nvSpPr>
        <p:spPr>
          <a:xfrm>
            <a:off x="695324" y="775331"/>
            <a:ext cx="7961313" cy="362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 type="obj">
  <p:cSld name="OBJECT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2"/>
          <p:cNvSpPr txBox="1">
            <a:spLocks noGrp="1"/>
          </p:cNvSpPr>
          <p:nvPr>
            <p:ph type="title"/>
          </p:nvPr>
        </p:nvSpPr>
        <p:spPr>
          <a:xfrm>
            <a:off x="457200" y="57150"/>
            <a:ext cx="82296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" name="Google Shape;190;p42"/>
          <p:cNvSpPr txBox="1">
            <a:spLocks noGrp="1"/>
          </p:cNvSpPr>
          <p:nvPr>
            <p:ph type="body" idx="1"/>
          </p:nvPr>
        </p:nvSpPr>
        <p:spPr>
          <a:xfrm>
            <a:off x="457200" y="800101"/>
            <a:ext cx="8229600" cy="41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91" name="Google Shape;191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825" y="4819600"/>
            <a:ext cx="2067676" cy="265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4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3" name="Google Shape;193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85750" y="4395101"/>
            <a:ext cx="1617024" cy="68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>
            <a:endParaRPr/>
          </a:p>
        </p:txBody>
      </p:sp>
      <p:sp>
        <p:nvSpPr>
          <p:cNvPr id="196" name="Google Shape;196;p4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97" name="Google Shape;197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image" Target="../media/image5.gif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image" Target="../media/image7.gif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image" Target="../media/image6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7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7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7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7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365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Verdana"/>
              <a:buChar char="•"/>
              <a:defRPr sz="21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Verdana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Noto Sans Symbols"/>
              <a:buChar char="▪"/>
              <a:defRPr sz="17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Verdana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1219200" y="4629151"/>
            <a:ext cx="3124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ldNum" idx="12"/>
          </p:nvPr>
        </p:nvSpPr>
        <p:spPr>
          <a:xfrm>
            <a:off x="533400" y="4629151"/>
            <a:ext cx="6858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" name="Google Shape;55;p13" descr="IEEE_TAG_BLU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8001000" y="4443413"/>
            <a:ext cx="914400" cy="38457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/>
        </p:nvSpPr>
        <p:spPr>
          <a:xfrm>
            <a:off x="284909" y="4628375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200"/>
              <a:buFont typeface="Calibri"/>
              <a:buNone/>
            </a:pPr>
            <a:fld id="{00000000-1234-1234-1234-123412341234}" type="slidenum">
              <a:rPr lang="en" sz="900" b="0" i="0" u="none" strike="noStrike" cap="none">
                <a:solidFill>
                  <a:srgbClr val="0066A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 b="0" i="0" u="none" strike="noStrike" cap="none">
              <a:solidFill>
                <a:srgbClr val="0066A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3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153349" y="4553785"/>
            <a:ext cx="859278" cy="266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3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665" y="1"/>
            <a:ext cx="9140333" cy="68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31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" y="4457701"/>
            <a:ext cx="9140333" cy="68552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titan.org/book/doc/productarchitecture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4"/>
          <p:cNvSpPr txBox="1">
            <a:spLocks noGrp="1"/>
          </p:cNvSpPr>
          <p:nvPr>
            <p:ph type="ctrTitle"/>
          </p:nvPr>
        </p:nvSpPr>
        <p:spPr>
          <a:xfrm>
            <a:off x="1018733" y="764339"/>
            <a:ext cx="71628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 Chipathon 2026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300" b="0"/>
              <a:t>Proposal Review: Group 1 A1-A25</a:t>
            </a:r>
            <a:endParaRPr sz="2300" b="0"/>
          </a:p>
        </p:txBody>
      </p:sp>
      <p:sp>
        <p:nvSpPr>
          <p:cNvPr id="204" name="Google Shape;204;p44"/>
          <p:cNvSpPr txBox="1"/>
          <p:nvPr/>
        </p:nvSpPr>
        <p:spPr>
          <a:xfrm>
            <a:off x="4486275" y="1943101"/>
            <a:ext cx="138600" cy="34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44"/>
          <p:cNvSpPr txBox="1">
            <a:spLocks noGrp="1"/>
          </p:cNvSpPr>
          <p:nvPr>
            <p:ph type="subTitle" idx="1"/>
          </p:nvPr>
        </p:nvSpPr>
        <p:spPr>
          <a:xfrm>
            <a:off x="1271586" y="2971800"/>
            <a:ext cx="701055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dirty="0"/>
              <a:t>IEEE Solid-State Circuits Society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400" dirty="0"/>
              <a:t>Technical Committee on the Open Source Ecosystem (TC-OSE)</a:t>
            </a:r>
            <a:endParaRPr sz="1400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dirty="0"/>
              <a:t> 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r>
              <a:rPr lang="en" b="0" dirty="0"/>
              <a:t>12 June 2026</a:t>
            </a:r>
            <a:endParaRPr b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6"/>
          <p:cNvSpPr txBox="1">
            <a:spLocks noGrp="1"/>
          </p:cNvSpPr>
          <p:nvPr>
            <p:ph type="ctrTitle"/>
          </p:nvPr>
        </p:nvSpPr>
        <p:spPr>
          <a:xfrm>
            <a:off x="311700" y="250987"/>
            <a:ext cx="8520600" cy="85291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solidFill>
                  <a:srgbClr val="0070C0"/>
                </a:solidFill>
              </a:rPr>
              <a:t>[A10] </a:t>
            </a:r>
            <a:r>
              <a:rPr lang="en" sz="4400" dirty="0" err="1">
                <a:solidFill>
                  <a:srgbClr val="0070C0"/>
                </a:solidFill>
              </a:rPr>
              <a:t>CryptoAccel</a:t>
            </a:r>
            <a:endParaRPr lang="en-US" sz="4400">
              <a:solidFill>
                <a:srgbClr val="0070C0"/>
              </a:solidFill>
            </a:endParaRPr>
          </a:p>
        </p:txBody>
      </p:sp>
      <p:sp>
        <p:nvSpPr>
          <p:cNvPr id="218" name="Google Shape;218;p46"/>
          <p:cNvSpPr txBox="1">
            <a:spLocks noGrp="1"/>
          </p:cNvSpPr>
          <p:nvPr>
            <p:ph type="subTitle" idx="1"/>
          </p:nvPr>
        </p:nvSpPr>
        <p:spPr>
          <a:xfrm>
            <a:off x="311700" y="928029"/>
            <a:ext cx="8520600" cy="51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ASCON AEAD128 based Cryptographic Hardware Accelerator with AXI Interface</a:t>
            </a:r>
            <a:endParaRPr sz="1800" dirty="0">
              <a:solidFill>
                <a:schemeClr val="dk1"/>
              </a:solidFill>
            </a:endParaRPr>
          </a:p>
        </p:txBody>
      </p:sp>
      <p:graphicFrame>
        <p:nvGraphicFramePr>
          <p:cNvPr id="219" name="Google Shape;219;p46"/>
          <p:cNvGraphicFramePr/>
          <p:nvPr>
            <p:extLst>
              <p:ext uri="{D42A27DB-BD31-4B8C-83A1-F6EECF244321}">
                <p14:modId xmlns:p14="http://schemas.microsoft.com/office/powerpoint/2010/main" val="2379764286"/>
              </p:ext>
            </p:extLst>
          </p:nvPr>
        </p:nvGraphicFramePr>
        <p:xfrm>
          <a:off x="547351" y="2181358"/>
          <a:ext cx="7549202" cy="2255400"/>
        </p:xfrm>
        <a:graphic>
          <a:graphicData uri="http://schemas.openxmlformats.org/drawingml/2006/table">
            <a:tbl>
              <a:tblPr>
                <a:noFill/>
                <a:tableStyleId>{4C33536B-BD36-4161-A2F3-415FDFE9F7F5}</a:tableStyleId>
              </a:tblPr>
              <a:tblGrid>
                <a:gridCol w="2119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431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/>
                        <a:t>Discord name</a:t>
                      </a:r>
                      <a:endParaRPr sz="1600"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/>
                        <a:t>Affiliation</a:t>
                      </a:r>
                      <a:endParaRPr sz="16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/>
                        <a:t>Experience</a:t>
                      </a:r>
                      <a:endParaRPr sz="16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/>
                        <a:t>Role</a:t>
                      </a:r>
                      <a:endParaRPr sz="16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4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lakvlsi_90908 </a:t>
                      </a:r>
                      <a:endParaRPr sz="1200" dirty="0"/>
                    </a:p>
                  </a:txBody>
                  <a:tcPr marL="91425" marR="91425" marT="91425" marB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IIT, Bombay</a:t>
                      </a:r>
                      <a:endParaRPr sz="12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Ph.D. Research Scholar</a:t>
                      </a:r>
                      <a:endParaRPr sz="12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Team Lead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 panose="020B0604020202020204" pitchFamily="34" charset="0"/>
                          <a:cs typeface="Arial"/>
                        </a:rPr>
                        <a:t>/ Presenter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89">
                <a:tc>
                  <a:txBody>
                    <a:bodyPr/>
                    <a:lstStyle/>
                    <a:p>
                      <a:pPr marL="0" marR="0" indent="0" algn="l" rtl="0" fontAlgn="t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 panose="020B0604020202020204" pitchFamily="34" charset="0"/>
                          <a:cs typeface="Arial"/>
                        </a:rPr>
                        <a:t>zysteresis</a:t>
                      </a: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 panose="020B0604020202020204" pitchFamily="34" charset="0"/>
                          <a:cs typeface="Arial"/>
                        </a:rPr>
                        <a:t> </a:t>
                      </a:r>
                      <a:endParaRPr lang="en-IN" sz="1200" b="0" i="0" u="none" strike="noStrike" dirty="0">
                        <a:effectLst/>
                        <a:latin typeface="Arial"/>
                        <a:cs typeface="Arial"/>
                      </a:endParaRP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marL="0" marR="0" indent="0" algn="l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 panose="020B0604020202020204" pitchFamily="34" charset="0"/>
                          <a:cs typeface="Arial"/>
                        </a:rPr>
                        <a:t>MIT, Manipal / STMicroelectronics</a:t>
                      </a:r>
                      <a:endParaRPr lang="en-US" sz="1200" b="0" i="0" u="none" strike="noStrike">
                        <a:effectLst/>
                        <a:latin typeface="Arial"/>
                        <a:cs typeface="Arial"/>
                      </a:endParaRP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marL="0" marR="0" indent="0" algn="l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 panose="020B0604020202020204" pitchFamily="34" charset="0"/>
                          <a:cs typeface="Arial"/>
                        </a:rPr>
                        <a:t>Undergraduate (III)</a:t>
                      </a:r>
                      <a:endParaRPr lang="en-US" sz="1200" b="0" i="0" u="none" strike="noStrike">
                        <a:effectLst/>
                        <a:latin typeface="Arial"/>
                        <a:cs typeface="Arial"/>
                      </a:endParaRP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marL="0" marR="0" indent="0" algn="l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 panose="020B0604020202020204" pitchFamily="34" charset="0"/>
                          <a:cs typeface="Arial"/>
                        </a:rPr>
                        <a:t>Team Member</a:t>
                      </a:r>
                      <a:endParaRPr lang="en-US" sz="1200" b="0" i="0" u="none" strike="noStrike">
                        <a:effectLst/>
                        <a:latin typeface="Arial"/>
                        <a:cs typeface="Arial"/>
                      </a:endParaRP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28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tarun_rs05 </a:t>
                      </a:r>
                      <a:endParaRPr sz="12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IIIT, Bangalore</a:t>
                      </a:r>
                      <a:endParaRPr sz="12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Undergraduate (II)</a:t>
                      </a:r>
                      <a:endParaRPr sz="12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Team Member</a:t>
                      </a:r>
                      <a:endParaRPr sz="12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8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harshi070852 </a:t>
                      </a:r>
                      <a:endParaRPr sz="12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PESIT, Bangalore</a:t>
                      </a:r>
                      <a:endParaRPr sz="12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Undergraduate (IV)</a:t>
                      </a:r>
                      <a:endParaRPr sz="12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Team Member</a:t>
                      </a:r>
                      <a:endParaRPr sz="12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0" name="Google Shape;220;p46"/>
          <p:cNvSpPr txBox="1"/>
          <p:nvPr/>
        </p:nvSpPr>
        <p:spPr>
          <a:xfrm>
            <a:off x="205648" y="1688643"/>
            <a:ext cx="38190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0070C0"/>
                </a:solidFill>
              </a:rPr>
              <a:t>Team members  </a:t>
            </a:r>
            <a:endParaRPr lang="en-US" sz="2000" b="1">
              <a:solidFill>
                <a:srgbClr val="0070C0"/>
              </a:solidFill>
            </a:endParaRPr>
          </a:p>
        </p:txBody>
      </p:sp>
      <p:sp>
        <p:nvSpPr>
          <p:cNvPr id="221" name="Google Shape;221;p46"/>
          <p:cNvSpPr txBox="1"/>
          <p:nvPr/>
        </p:nvSpPr>
        <p:spPr>
          <a:xfrm>
            <a:off x="1315707" y="1288684"/>
            <a:ext cx="651258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2"/>
                </a:solidFill>
              </a:rPr>
              <a:t>a</a:t>
            </a:r>
            <a:r>
              <a:rPr lang="en-IN" dirty="0">
                <a:solidFill>
                  <a:schemeClr val="dk2"/>
                </a:solidFill>
              </a:rPr>
              <a:t>s a plug and play hardware co-processor for various applications.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223" name="Google Shape;223;p46"/>
          <p:cNvSpPr txBox="1"/>
          <p:nvPr/>
        </p:nvSpPr>
        <p:spPr>
          <a:xfrm>
            <a:off x="209254" y="373534"/>
            <a:ext cx="975600" cy="40007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67"/>
          <p:cNvSpPr txBox="1"/>
          <p:nvPr/>
        </p:nvSpPr>
        <p:spPr>
          <a:xfrm>
            <a:off x="2287885" y="404452"/>
            <a:ext cx="50628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2800" b="1" dirty="0">
                <a:solidFill>
                  <a:srgbClr val="434343"/>
                </a:solidFill>
              </a:rPr>
              <a:t>PROJECT INFORMATION</a:t>
            </a:r>
            <a:endParaRPr lang="en-US" dirty="0"/>
          </a:p>
        </p:txBody>
      </p:sp>
      <p:sp>
        <p:nvSpPr>
          <p:cNvPr id="362" name="Google Shape;362;p67"/>
          <p:cNvSpPr txBox="1"/>
          <p:nvPr/>
        </p:nvSpPr>
        <p:spPr>
          <a:xfrm>
            <a:off x="274554" y="965388"/>
            <a:ext cx="8391000" cy="3277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" sz="1800" b="1" dirty="0">
                <a:solidFill>
                  <a:srgbClr val="0070C0"/>
                </a:solidFill>
              </a:rPr>
              <a:t>GOAL: </a:t>
            </a:r>
          </a:p>
          <a:p>
            <a:pPr marL="285750" indent="-285750" algn="just">
              <a:buFont typeface="Wingdings"/>
              <a:buChar char="q"/>
            </a:pPr>
            <a:r>
              <a:rPr lang="en" sz="1800" dirty="0">
                <a:solidFill>
                  <a:srgbClr val="595959"/>
                </a:solidFill>
              </a:rPr>
              <a:t>Design and implement a lightweight ASCON-AEAD128a cryptographic hardware accelerator with an AXI-Lite interface using GF180MCU technology node </a:t>
            </a:r>
            <a:endParaRPr lang="en-US" sz="1800" dirty="0">
              <a:solidFill>
                <a:srgbClr val="595959"/>
              </a:solidFill>
            </a:endParaRPr>
          </a:p>
          <a:p>
            <a:pPr marL="285750" indent="-285750" algn="just">
              <a:buFont typeface="Wingdings"/>
              <a:buChar char="q"/>
            </a:pPr>
            <a:r>
              <a:rPr lang="en" sz="1800" dirty="0">
                <a:solidFill>
                  <a:srgbClr val="595959"/>
                </a:solidFill>
              </a:rPr>
              <a:t>Enable seamless integration of the accelerator with a wide range of processors and System-on-Chip (SoC) platforms that support the AXI protocol. </a:t>
            </a:r>
            <a:endParaRPr lang="en-US" sz="1800" dirty="0">
              <a:solidFill>
                <a:srgbClr val="595959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>
          <a:extLst>
            <a:ext uri="{FF2B5EF4-FFF2-40B4-BE49-F238E27FC236}">
              <a16:creationId xmlns:a16="http://schemas.microsoft.com/office/drawing/2014/main" id="{34989AF9-005D-E3E2-A049-911B3AA7B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3751FD-1D42-F785-FB9F-1E43AF5E4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476" y="730198"/>
            <a:ext cx="6324457" cy="3067102"/>
          </a:xfrm>
          <a:prstGeom prst="rect">
            <a:avLst/>
          </a:prstGeom>
        </p:spPr>
      </p:pic>
      <p:sp>
        <p:nvSpPr>
          <p:cNvPr id="362" name="Google Shape;362;p67">
            <a:extLst>
              <a:ext uri="{FF2B5EF4-FFF2-40B4-BE49-F238E27FC236}">
                <a16:creationId xmlns:a16="http://schemas.microsoft.com/office/drawing/2014/main" id="{594DC37A-0F8F-FB3E-60C4-2D0741F50B74}"/>
              </a:ext>
            </a:extLst>
          </p:cNvPr>
          <p:cNvSpPr txBox="1"/>
          <p:nvPr/>
        </p:nvSpPr>
        <p:spPr>
          <a:xfrm>
            <a:off x="172895" y="270444"/>
            <a:ext cx="3353031" cy="2625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" sz="1800" b="1" dirty="0">
                <a:solidFill>
                  <a:srgbClr val="0070C0"/>
                </a:solidFill>
              </a:rPr>
              <a:t>DESIGN: </a:t>
            </a:r>
          </a:p>
          <a:p>
            <a:pPr marL="285750" indent="-285750" algn="just">
              <a:buFont typeface="Wingdings"/>
              <a:buChar char="q"/>
            </a:pPr>
            <a:r>
              <a:rPr lang="en" sz="1800" dirty="0">
                <a:solidFill>
                  <a:srgbClr val="595959"/>
                </a:solidFill>
              </a:rPr>
              <a:t>Encryption:</a:t>
            </a:r>
          </a:p>
          <a:p>
            <a:r>
              <a:rPr lang="en" dirty="0">
                <a:solidFill>
                  <a:srgbClr val="595959"/>
                </a:solidFill>
              </a:rPr>
              <a:t> </a:t>
            </a:r>
            <a:r>
              <a:rPr lang="en-IN" b="1" dirty="0"/>
              <a:t>1. </a:t>
            </a:r>
            <a:r>
              <a:rPr lang="en-IN" sz="1200" b="1" dirty="0"/>
              <a:t>Configure and key the engine</a:t>
            </a:r>
            <a:r>
              <a:rPr lang="en-IN" sz="1200" dirty="0"/>
              <a:t> </a:t>
            </a:r>
            <a:r>
              <a:rPr lang="en-IN" sz="1200" i="1" dirty="0"/>
              <a:t>(SPI writes)</a:t>
            </a:r>
            <a:endParaRPr lang="en-IN" sz="1200" dirty="0"/>
          </a:p>
          <a:p>
            <a:pPr algn="just"/>
            <a:r>
              <a:rPr lang="en-IN" sz="1200" b="1" dirty="0"/>
              <a:t>2. Start</a:t>
            </a:r>
            <a:r>
              <a:rPr lang="en-IN" sz="1200" dirty="0"/>
              <a:t> </a:t>
            </a:r>
            <a:r>
              <a:rPr lang="en-IN" sz="1200" i="1" dirty="0"/>
              <a:t>(SPI write)</a:t>
            </a:r>
            <a:endParaRPr lang="en-IN" sz="1200" dirty="0"/>
          </a:p>
          <a:p>
            <a:pPr algn="just"/>
            <a:r>
              <a:rPr lang="en-IN" sz="1200" b="1" dirty="0"/>
              <a:t>3. Feed the associated data</a:t>
            </a:r>
            <a:r>
              <a:rPr lang="en-IN" sz="1200" dirty="0"/>
              <a:t> </a:t>
            </a:r>
            <a:r>
              <a:rPr lang="en-IN" sz="1200" i="1" dirty="0"/>
              <a:t>(SPI writes)</a:t>
            </a:r>
            <a:endParaRPr lang="en-IN" sz="1200" dirty="0"/>
          </a:p>
          <a:p>
            <a:pPr algn="just"/>
            <a:r>
              <a:rPr lang="en-IN" sz="1200" b="1" dirty="0"/>
              <a:t>4. Stream plaintext and collect ciphertext</a:t>
            </a:r>
            <a:r>
              <a:rPr lang="en-IN" sz="1200" dirty="0"/>
              <a:t> </a:t>
            </a:r>
            <a:r>
              <a:rPr lang="en-IN" sz="1200" i="1" dirty="0"/>
              <a:t>(SPI writes + reads, interleaved)</a:t>
            </a:r>
            <a:endParaRPr lang="en-IN" sz="1200" dirty="0"/>
          </a:p>
          <a:p>
            <a:pPr algn="just"/>
            <a:r>
              <a:rPr lang="en-IN" sz="1200" b="1" dirty="0"/>
              <a:t>5. Finish and read the tag</a:t>
            </a:r>
            <a:r>
              <a:rPr lang="en-IN" sz="1200" dirty="0"/>
              <a:t> </a:t>
            </a:r>
            <a:r>
              <a:rPr lang="en-IN" sz="1200" i="1" dirty="0"/>
              <a:t>(SPI reads)</a:t>
            </a:r>
            <a:endParaRPr lang="en-IN" sz="1200" dirty="0"/>
          </a:p>
          <a:p>
            <a:pPr algn="just"/>
            <a:endParaRPr lang="en-IN" dirty="0"/>
          </a:p>
          <a:p>
            <a:pPr algn="just"/>
            <a:endParaRPr lang="en-IN" dirty="0"/>
          </a:p>
        </p:txBody>
      </p:sp>
      <p:sp>
        <p:nvSpPr>
          <p:cNvPr id="2" name="Google Shape;362;p67">
            <a:extLst>
              <a:ext uri="{FF2B5EF4-FFF2-40B4-BE49-F238E27FC236}">
                <a16:creationId xmlns:a16="http://schemas.microsoft.com/office/drawing/2014/main" id="{C8422475-D962-B3C4-0A60-7BC59E75DF28}"/>
              </a:ext>
            </a:extLst>
          </p:cNvPr>
          <p:cNvSpPr txBox="1"/>
          <p:nvPr/>
        </p:nvSpPr>
        <p:spPr>
          <a:xfrm>
            <a:off x="5668435" y="225994"/>
            <a:ext cx="1996015" cy="409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" sz="1800" b="1" dirty="0">
                <a:solidFill>
                  <a:srgbClr val="0070C0"/>
                </a:solidFill>
              </a:rPr>
              <a:t>ARCHITECTURE</a:t>
            </a:r>
            <a:endParaRPr lang="en-US" dirty="0"/>
          </a:p>
        </p:txBody>
      </p:sp>
      <p:sp>
        <p:nvSpPr>
          <p:cNvPr id="3" name="Google Shape;362;p67">
            <a:extLst>
              <a:ext uri="{FF2B5EF4-FFF2-40B4-BE49-F238E27FC236}">
                <a16:creationId xmlns:a16="http://schemas.microsoft.com/office/drawing/2014/main" id="{AA7BC492-5509-A48A-9CB1-2AE047ABFFED}"/>
              </a:ext>
            </a:extLst>
          </p:cNvPr>
          <p:cNvSpPr txBox="1"/>
          <p:nvPr/>
        </p:nvSpPr>
        <p:spPr>
          <a:xfrm>
            <a:off x="172894" y="2288189"/>
            <a:ext cx="3353031" cy="1041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just">
              <a:buFont typeface="Wingdings"/>
              <a:buChar char="q"/>
            </a:pPr>
            <a:r>
              <a:rPr lang="en" sz="1800" dirty="0">
                <a:solidFill>
                  <a:srgbClr val="595959"/>
                </a:solidFill>
              </a:rPr>
              <a:t>Decryption:</a:t>
            </a:r>
          </a:p>
          <a:p>
            <a:r>
              <a:rPr lang="en" dirty="0">
                <a:solidFill>
                  <a:srgbClr val="595959"/>
                </a:solidFill>
              </a:rPr>
              <a:t> </a:t>
            </a:r>
            <a:r>
              <a:rPr lang="en-IN" sz="1200" b="1" dirty="0"/>
              <a:t>1. Configure and key the engine</a:t>
            </a:r>
            <a:r>
              <a:rPr lang="en-IN" sz="1200" dirty="0"/>
              <a:t> </a:t>
            </a:r>
            <a:r>
              <a:rPr lang="en-IN" sz="1200" i="1" dirty="0"/>
              <a:t>(SPI writes)</a:t>
            </a:r>
          </a:p>
          <a:p>
            <a:r>
              <a:rPr lang="en-IN" sz="1200" b="1" dirty="0"/>
              <a:t>2. Start</a:t>
            </a:r>
            <a:r>
              <a:rPr lang="en-IN" sz="1200" dirty="0"/>
              <a:t> </a:t>
            </a:r>
            <a:r>
              <a:rPr lang="en-IN" sz="1200" i="1" dirty="0"/>
              <a:t>(SPI write)</a:t>
            </a:r>
          </a:p>
          <a:p>
            <a:r>
              <a:rPr lang="en-IN" sz="1200" b="1" dirty="0"/>
              <a:t>3. Feed the associated data</a:t>
            </a:r>
            <a:r>
              <a:rPr lang="en-IN" sz="1200" dirty="0"/>
              <a:t> </a:t>
            </a:r>
            <a:r>
              <a:rPr lang="en-IN" sz="1200" i="1" dirty="0"/>
              <a:t>(SPI writes)</a:t>
            </a:r>
            <a:endParaRPr lang="en-IN" sz="1200" dirty="0"/>
          </a:p>
          <a:p>
            <a:r>
              <a:rPr lang="en-IN" sz="1200" b="1" dirty="0"/>
              <a:t>4. Stream ciphertext and collect plaintext</a:t>
            </a:r>
            <a:r>
              <a:rPr lang="en-IN" sz="1200" dirty="0"/>
              <a:t> </a:t>
            </a:r>
            <a:r>
              <a:rPr lang="en-IN" sz="1200" i="1" dirty="0"/>
              <a:t>(SPI writes + reads)</a:t>
            </a:r>
            <a:endParaRPr lang="en-IN" sz="1200" dirty="0"/>
          </a:p>
          <a:p>
            <a:r>
              <a:rPr lang="en-IN" sz="1200" b="1" dirty="0"/>
              <a:t>5. Verify</a:t>
            </a:r>
            <a:r>
              <a:rPr lang="en-IN" sz="1200" dirty="0"/>
              <a:t> </a:t>
            </a:r>
            <a:r>
              <a:rPr lang="en-IN" sz="1200" i="1" dirty="0"/>
              <a:t>(SPI read)</a:t>
            </a:r>
            <a:endParaRPr lang="en-IN" sz="1200" dirty="0"/>
          </a:p>
          <a:p>
            <a:endParaRPr lang="en-IN" dirty="0"/>
          </a:p>
          <a:p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1538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>
          <a:extLst>
            <a:ext uri="{FF2B5EF4-FFF2-40B4-BE49-F238E27FC236}">
              <a16:creationId xmlns:a16="http://schemas.microsoft.com/office/drawing/2014/main" id="{05AEBB47-3E09-40AA-8651-135794191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67">
            <a:extLst>
              <a:ext uri="{FF2B5EF4-FFF2-40B4-BE49-F238E27FC236}">
                <a16:creationId xmlns:a16="http://schemas.microsoft.com/office/drawing/2014/main" id="{37DF49DC-8861-738D-6064-A15EEB87A2EC}"/>
              </a:ext>
            </a:extLst>
          </p:cNvPr>
          <p:cNvSpPr txBox="1"/>
          <p:nvPr/>
        </p:nvSpPr>
        <p:spPr>
          <a:xfrm>
            <a:off x="164826" y="431379"/>
            <a:ext cx="8391000" cy="1804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" sz="1800" b="1" dirty="0">
                <a:solidFill>
                  <a:srgbClr val="0070C0"/>
                </a:solidFill>
              </a:rPr>
              <a:t>APPLICATIONS: </a:t>
            </a:r>
          </a:p>
          <a:p>
            <a:pPr marL="285750" indent="-285750" algn="just">
              <a:buFont typeface="Wingdings"/>
              <a:buChar char="q"/>
            </a:pPr>
            <a:r>
              <a:rPr lang="en" sz="1800" dirty="0">
                <a:solidFill>
                  <a:srgbClr val="595959"/>
                </a:solidFill>
              </a:rPr>
              <a:t>Internet of Things (IoT) devices: authenticated encryption and data integrity protection for sensor nodes, edge devices, and embedded controllers operating under strict area and power constraints. </a:t>
            </a:r>
            <a:endParaRPr lang="en-US" sz="1800" dirty="0">
              <a:solidFill>
                <a:srgbClr val="595959"/>
              </a:solidFill>
            </a:endParaRPr>
          </a:p>
          <a:p>
            <a:pPr marL="285750" indent="-285750" algn="just">
              <a:buFont typeface="Wingdings"/>
              <a:buChar char="q"/>
            </a:pPr>
            <a:r>
              <a:rPr lang="en" sz="1800" dirty="0">
                <a:solidFill>
                  <a:srgbClr val="595959"/>
                </a:solidFill>
              </a:rPr>
              <a:t>Serve as a hardware Root of Trust for secure boot applications by verifying the authenticity and integrity of firmware during system startup. 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595959"/>
              </a:solidFill>
            </a:endParaRPr>
          </a:p>
        </p:txBody>
      </p:sp>
      <p:sp>
        <p:nvSpPr>
          <p:cNvPr id="2" name="Google Shape;362;p67">
            <a:extLst>
              <a:ext uri="{FF2B5EF4-FFF2-40B4-BE49-F238E27FC236}">
                <a16:creationId xmlns:a16="http://schemas.microsoft.com/office/drawing/2014/main" id="{F4A041DC-1172-2548-4D0D-9CEB0307AFD8}"/>
              </a:ext>
            </a:extLst>
          </p:cNvPr>
          <p:cNvSpPr txBox="1"/>
          <p:nvPr/>
        </p:nvSpPr>
        <p:spPr>
          <a:xfrm>
            <a:off x="164826" y="2341711"/>
            <a:ext cx="8391000" cy="460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" sz="1800" b="1" dirty="0">
                <a:solidFill>
                  <a:srgbClr val="0070C0"/>
                </a:solidFill>
              </a:rPr>
              <a:t>SPECIFICATIONS</a:t>
            </a:r>
            <a:endParaRPr lang="en" sz="1800" b="1" dirty="0"/>
          </a:p>
          <a:p>
            <a:pPr algn="just"/>
            <a:endParaRPr lang="en" sz="1800" b="1" dirty="0">
              <a:solidFill>
                <a:srgbClr val="0070C0"/>
              </a:solidFill>
            </a:endParaRPr>
          </a:p>
          <a:p>
            <a:pPr algn="just"/>
            <a:endParaRPr lang="en-US" sz="1800" dirty="0">
              <a:solidFill>
                <a:srgbClr val="595959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C89CE2-5B95-F329-5688-1CD9F2993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434559"/>
              </p:ext>
            </p:extLst>
          </p:nvPr>
        </p:nvGraphicFramePr>
        <p:xfrm>
          <a:off x="2783667" y="2495294"/>
          <a:ext cx="2454015" cy="2001520"/>
        </p:xfrm>
        <a:graphic>
          <a:graphicData uri="http://schemas.openxmlformats.org/drawingml/2006/table">
            <a:tbl>
              <a:tblPr firstRow="1" bandRow="1">
                <a:tableStyleId>{4C33536B-BD36-4161-A2F3-415FDFE9F7F5}</a:tableStyleId>
              </a:tblPr>
              <a:tblGrid>
                <a:gridCol w="1253768">
                  <a:extLst>
                    <a:ext uri="{9D8B030D-6E8A-4147-A177-3AD203B41FA5}">
                      <a16:colId xmlns:a16="http://schemas.microsoft.com/office/drawing/2014/main" val="197424892"/>
                    </a:ext>
                  </a:extLst>
                </a:gridCol>
                <a:gridCol w="1200247">
                  <a:extLst>
                    <a:ext uri="{9D8B030D-6E8A-4147-A177-3AD203B41FA5}">
                      <a16:colId xmlns:a16="http://schemas.microsoft.com/office/drawing/2014/main" val="16180282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GF180MCU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538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Supply 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3.3V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8646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Frequency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50MHz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839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AREA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&lt;0.65 </a:t>
                      </a:r>
                      <a:r>
                        <a:rPr lang="en-US"/>
                        <a:t>µm</a:t>
                      </a:r>
                      <a:r>
                        <a:rPr lang="en-US" baseline="3000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331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PIN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 15 PINS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8827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098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>
          <a:extLst>
            <a:ext uri="{FF2B5EF4-FFF2-40B4-BE49-F238E27FC236}">
              <a16:creationId xmlns:a16="http://schemas.microsoft.com/office/drawing/2014/main" id="{B4E25ED4-0E4B-0735-06EC-BD442A997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7">
            <a:extLst>
              <a:ext uri="{FF2B5EF4-FFF2-40B4-BE49-F238E27FC236}">
                <a16:creationId xmlns:a16="http://schemas.microsoft.com/office/drawing/2014/main" id="{9C29D45F-3BCC-6A19-1A2E-448072E96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/>
              <a:t> </a:t>
            </a:r>
            <a:endParaRPr sz="2400" b="1" dirty="0"/>
          </a:p>
        </p:txBody>
      </p:sp>
      <p:sp>
        <p:nvSpPr>
          <p:cNvPr id="6" name="Google Shape;362;p67">
            <a:extLst>
              <a:ext uri="{FF2B5EF4-FFF2-40B4-BE49-F238E27FC236}">
                <a16:creationId xmlns:a16="http://schemas.microsoft.com/office/drawing/2014/main" id="{FA9AF5C7-B406-2E47-2443-F68D12F44B15}"/>
              </a:ext>
            </a:extLst>
          </p:cNvPr>
          <p:cNvSpPr txBox="1"/>
          <p:nvPr/>
        </p:nvSpPr>
        <p:spPr>
          <a:xfrm>
            <a:off x="67955" y="370311"/>
            <a:ext cx="8391000" cy="460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" sz="1800" b="1" dirty="0">
                <a:solidFill>
                  <a:srgbClr val="0070C0"/>
                </a:solidFill>
              </a:rPr>
              <a:t>REFERENCES</a:t>
            </a:r>
            <a:endParaRPr lang="en-US" sz="1800" dirty="0">
              <a:solidFill>
                <a:srgbClr val="595959"/>
              </a:solidFill>
            </a:endParaRPr>
          </a:p>
        </p:txBody>
      </p:sp>
      <p:sp>
        <p:nvSpPr>
          <p:cNvPr id="7" name="Google Shape;362;p67">
            <a:extLst>
              <a:ext uri="{FF2B5EF4-FFF2-40B4-BE49-F238E27FC236}">
                <a16:creationId xmlns:a16="http://schemas.microsoft.com/office/drawing/2014/main" id="{44C5A2A5-BE3E-9FC8-CDF9-25926A37F4FC}"/>
              </a:ext>
            </a:extLst>
          </p:cNvPr>
          <p:cNvSpPr txBox="1"/>
          <p:nvPr/>
        </p:nvSpPr>
        <p:spPr>
          <a:xfrm>
            <a:off x="67955" y="867876"/>
            <a:ext cx="8391000" cy="3277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" sz="1200" dirty="0">
                <a:solidFill>
                  <a:srgbClr val="595959"/>
                </a:solidFill>
              </a:rPr>
              <a:t>[1] </a:t>
            </a:r>
            <a:r>
              <a:rPr lang="en-IN" sz="1200" dirty="0">
                <a:solidFill>
                  <a:srgbClr val="595959"/>
                </a:solidFill>
              </a:rPr>
              <a:t>M. Sönmez Turan, K. McKay, J. Kang, J. Kelsey, and D. Chang,    "Ascon-Based Lightweight Cryptography Standards for Constrained Devices:    Authenticated Encryption, Hash, and Extendable Output Functions,"    NIST Special Publication 800-232, Aug. 2025.</a:t>
            </a:r>
          </a:p>
          <a:p>
            <a:pPr algn="just"/>
            <a:endParaRPr lang="en-IN" sz="1200" dirty="0">
              <a:solidFill>
                <a:srgbClr val="595959"/>
              </a:solidFill>
            </a:endParaRPr>
          </a:p>
          <a:p>
            <a:pPr algn="just"/>
            <a:r>
              <a:rPr lang="en-IN" sz="1200" dirty="0">
                <a:solidFill>
                  <a:srgbClr val="595959"/>
                </a:solidFill>
              </a:rPr>
              <a:t>[2] K. -D. Nguyen, T. -K. Dang, B. Kieu-Do-Nguyen, C. -K. Pham and T. -T. Hoang, "Live Demonstration: ASIC Implementation of ASCON Lightweight Cryptography for IoT Applications," 2025 IEEE International Symposium on Circuits and Systems (ISCAS), London, United Kingdom, 2025, pp. 1-1, </a:t>
            </a:r>
            <a:r>
              <a:rPr lang="en-IN" sz="1200" dirty="0" err="1">
                <a:solidFill>
                  <a:srgbClr val="595959"/>
                </a:solidFill>
              </a:rPr>
              <a:t>doi</a:t>
            </a:r>
            <a:r>
              <a:rPr lang="en-IN" sz="1200" dirty="0">
                <a:solidFill>
                  <a:srgbClr val="595959"/>
                </a:solidFill>
              </a:rPr>
              <a:t>: 10.1109/ISCAS56072.2025.11044102.</a:t>
            </a:r>
          </a:p>
          <a:p>
            <a:pPr algn="just"/>
            <a:endParaRPr lang="en-IN" sz="1200" dirty="0">
              <a:solidFill>
                <a:srgbClr val="595959"/>
              </a:solidFill>
            </a:endParaRPr>
          </a:p>
          <a:p>
            <a:pPr algn="just"/>
            <a:r>
              <a:rPr lang="en-IN" sz="1200" dirty="0">
                <a:solidFill>
                  <a:srgbClr val="595959"/>
                </a:solidFill>
              </a:rPr>
              <a:t>[3] </a:t>
            </a:r>
            <a:r>
              <a:rPr lang="en-US" sz="1200" dirty="0">
                <a:solidFill>
                  <a:srgbClr val="595959"/>
                </a:solidFill>
              </a:rPr>
              <a:t>J. Kaur, A. C. Canto, M. M. Kermani, and R. </a:t>
            </a:r>
            <a:r>
              <a:rPr lang="en-US" sz="1200" dirty="0" err="1">
                <a:solidFill>
                  <a:srgbClr val="595959"/>
                </a:solidFill>
              </a:rPr>
              <a:t>Azarderakhsh</a:t>
            </a:r>
            <a:r>
              <a:rPr lang="en-US" sz="1200" dirty="0">
                <a:solidFill>
                  <a:srgbClr val="595959"/>
                </a:solidFill>
              </a:rPr>
              <a:t>,     "A Comprehensive Survey on the Implementations, Attacks,     and Countermeasures of the Current NIST Lightweight Cryptography Standard,"     Electronics, vol. 13, no. 22, Art. no. 4550, 2024.</a:t>
            </a:r>
          </a:p>
          <a:p>
            <a:pPr algn="just"/>
            <a:endParaRPr lang="en-US" sz="1200" dirty="0">
              <a:solidFill>
                <a:srgbClr val="595959"/>
              </a:solidFill>
            </a:endParaRPr>
          </a:p>
          <a:p>
            <a:r>
              <a:rPr lang="en-US" sz="1200" dirty="0">
                <a:solidFill>
                  <a:srgbClr val="595959"/>
                </a:solidFill>
              </a:rPr>
              <a:t>[4] </a:t>
            </a:r>
            <a:r>
              <a:rPr lang="en-US" sz="1200" dirty="0" err="1">
                <a:solidFill>
                  <a:srgbClr val="595959"/>
                </a:solidFill>
              </a:rPr>
              <a:t>OpenTitan</a:t>
            </a:r>
            <a:r>
              <a:rPr lang="en-US" sz="1200" dirty="0">
                <a:solidFill>
                  <a:srgbClr val="595959"/>
                </a:solidFill>
              </a:rPr>
              <a:t> Project, "</a:t>
            </a:r>
            <a:r>
              <a:rPr lang="en-US" sz="1200" dirty="0" err="1">
                <a:solidFill>
                  <a:srgbClr val="595959"/>
                </a:solidFill>
              </a:rPr>
              <a:t>EarlGrey</a:t>
            </a:r>
            <a:r>
              <a:rPr lang="en-US" sz="1200" dirty="0">
                <a:solidFill>
                  <a:srgbClr val="595959"/>
                </a:solidFill>
              </a:rPr>
              <a:t> and Darjeeling Architectures,“ </a:t>
            </a:r>
            <a:br>
              <a:rPr lang="en-US" sz="1200" dirty="0">
                <a:solidFill>
                  <a:srgbClr val="595959"/>
                </a:solidFill>
              </a:rPr>
            </a:br>
            <a:r>
              <a:rPr lang="en-US" sz="1200" dirty="0">
                <a:solidFill>
                  <a:srgbClr val="595959"/>
                </a:solidFill>
              </a:rPr>
              <a:t>[Online]. Available:    </a:t>
            </a:r>
            <a:r>
              <a:rPr lang="en-US" sz="1200" dirty="0">
                <a:solidFill>
                  <a:srgbClr val="595959"/>
                </a:solidFill>
                <a:hlinkClick r:id="rId3"/>
              </a:rPr>
              <a:t>https://opentitan.org/book/doc/productarchitecture.html</a:t>
            </a:r>
            <a:endParaRPr lang="en-US" sz="1200" dirty="0">
              <a:solidFill>
                <a:srgbClr val="595959"/>
              </a:solidFill>
            </a:endParaRPr>
          </a:p>
          <a:p>
            <a:endParaRPr lang="en-US" sz="1200" dirty="0">
              <a:solidFill>
                <a:srgbClr val="595959"/>
              </a:solidFill>
            </a:endParaRPr>
          </a:p>
          <a:p>
            <a:r>
              <a:rPr lang="en-US" sz="1200" dirty="0">
                <a:solidFill>
                  <a:srgbClr val="595959"/>
                </a:solidFill>
              </a:rPr>
              <a:t>[5] Khan, S., Inayat, K., Muslim, F.B. et al. Securing the IoT ecosystem: ASIC-based hardware realization of Ascon lightweight cipher. Int. J. Inf. </a:t>
            </a:r>
            <a:r>
              <a:rPr lang="en-US" sz="1200" dirty="0" err="1">
                <a:solidFill>
                  <a:srgbClr val="595959"/>
                </a:solidFill>
              </a:rPr>
              <a:t>Secur</a:t>
            </a:r>
            <a:r>
              <a:rPr lang="en-US" sz="1200" dirty="0">
                <a:solidFill>
                  <a:srgbClr val="595959"/>
                </a:solidFill>
              </a:rPr>
              <a:t>. 23, 3653–3664 (2024). https://doi.org/10.1007/s10207-024-00904-1</a:t>
            </a:r>
            <a:endParaRPr lang="en-IN" sz="1200" dirty="0">
              <a:solidFill>
                <a:srgbClr val="595959"/>
              </a:solidFill>
            </a:endParaRPr>
          </a:p>
          <a:p>
            <a:pPr algn="just"/>
            <a:endParaRPr lang="en-IN" sz="1200" dirty="0">
              <a:solidFill>
                <a:srgbClr val="595959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975074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EEE_2010slogan_template">
  <a:themeElements>
    <a:clrScheme name="Custom 3">
      <a:dk1>
        <a:srgbClr val="000000"/>
      </a:dk1>
      <a:lt1>
        <a:srgbClr val="FFFFFF"/>
      </a:lt1>
      <a:dk2>
        <a:srgbClr val="005582"/>
      </a:dk2>
      <a:lt2>
        <a:srgbClr val="808080"/>
      </a:lt2>
      <a:accent1>
        <a:srgbClr val="DC5D26"/>
      </a:accent1>
      <a:accent2>
        <a:srgbClr val="52A93A"/>
      </a:accent2>
      <a:accent3>
        <a:srgbClr val="FFFFFF"/>
      </a:accent3>
      <a:accent4>
        <a:srgbClr val="000000"/>
      </a:accent4>
      <a:accent5>
        <a:srgbClr val="6C0521"/>
      </a:accent5>
      <a:accent6>
        <a:srgbClr val="477E27"/>
      </a:accent6>
      <a:hlink>
        <a:srgbClr val="0080FF"/>
      </a:hlink>
      <a:folHlink>
        <a:srgbClr val="48186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ontent Slid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756</Words>
  <Application>Microsoft Office PowerPoint</Application>
  <PresentationFormat>On-screen Show (16:9)</PresentationFormat>
  <Paragraphs>82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Tahoma</vt:lpstr>
      <vt:lpstr>Calibri</vt:lpstr>
      <vt:lpstr>Noto Sans Symbols</vt:lpstr>
      <vt:lpstr>Wingdings</vt:lpstr>
      <vt:lpstr>Verdana</vt:lpstr>
      <vt:lpstr>Merriweather Sans</vt:lpstr>
      <vt:lpstr>Arial</vt:lpstr>
      <vt:lpstr>Simple Light</vt:lpstr>
      <vt:lpstr>IEEE_2010slogan_template</vt:lpstr>
      <vt:lpstr>Content Slides</vt:lpstr>
      <vt:lpstr>The Chipathon 2026 Proposal Review: Group 1 A1-A25</vt:lpstr>
      <vt:lpstr>[A10] CryptoAccel</vt:lpstr>
      <vt:lpstr>PowerPoint Presentation</vt:lpstr>
      <vt:lpstr>PowerPoint Presentation</vt:lpstr>
      <vt:lpstr>PowerPoint Presentation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Yashvardhan Singh</dc:creator>
  <cp:lastModifiedBy>lakshmikiyer90@outlook.com</cp:lastModifiedBy>
  <cp:revision>118</cp:revision>
  <dcterms:modified xsi:type="dcterms:W3CDTF">2026-06-12T04:25:24Z</dcterms:modified>
</cp:coreProperties>
</file>